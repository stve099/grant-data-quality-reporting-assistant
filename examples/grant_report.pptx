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C5CAB"/>
                </a:solidFill>
              </a:rPr>
              <a:t>Stable Homes Grant — Annual Outcome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52514E"/>
                </a:solidFill>
              </a:rPr>
              <a:t>Stable Homes Grant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2514E"/>
                </a:solidFill>
              </a:rPr>
              <a:t>July 01, 2024 – June 30, 2025  ·  Prepared by Program Data &amp; Evaluation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2514E"/>
                </a:solidFill>
              </a:rPr>
              <a:t>Synthetic demonstration data — contains no real client information.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5CAB"/>
                </a:solidFill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C5CAB"/>
                </a:solidFill>
              </a:rPr>
              <a:t>260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2514E"/>
                </a:solidFill>
              </a:rPr>
              <a:t>Households 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4630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C5CAB"/>
                </a:solidFill>
              </a:rPr>
              <a:t>472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377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2514E"/>
                </a:solidFill>
              </a:rPr>
              <a:t>Individuals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4630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C5CAB"/>
                </a:solidFill>
              </a:rPr>
              <a:t>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77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2514E"/>
                </a:solidFill>
              </a:rPr>
              <a:t>Exits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C5CAB"/>
                </a:solidFill>
              </a:rPr>
              <a:t>64.1%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2514E"/>
                </a:solidFill>
              </a:rPr>
              <a:t>Permanent housing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5661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C5CAB"/>
                </a:solidFill>
              </a:rPr>
              <a:t>46.8%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2514E"/>
                </a:solidFill>
              </a:rPr>
              <a:t>Income increased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5661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C5CAB"/>
                </a:solidFill>
              </a:rPr>
              <a:t>97.2%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2514E"/>
                </a:solidFill>
              </a:rPr>
              <a:t>Follow-up completion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5CAB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1A"/>
                </a:solidFill>
              </a:rPr>
              <a:t>During the reporting period (July 2024–June 2025), Stable Homes Grant programs enrolled 260 clients across 260 households (472 individuals). Of 145 exits, 93 (64.1%) were successful and 93 (64.1%) went to permanent housing. Median household income change at exit was $0, with 46.8% of households increasing income. 5 of 5 performance measures met their targets. Headline: 64.1% of the 145 exits this period were successful, against 5 tracked measures (5 met, 0 missed).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5CAB"/>
                </a:solidFill>
              </a:rPr>
              <a:t>Outcomes by program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5CAB"/>
                </a:solidFill>
              </a:rPr>
              <a:t>Performance against target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5CAB"/>
                </a:solidFill>
              </a:rPr>
              <a:t>Enrollment and exit trend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5CAB"/>
                </a:solidFill>
              </a:rPr>
              <a:t>Performance measures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/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Status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Permanent housing exit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7F4B"/>
                          </a:solidFill>
                        </a:rPr>
                        <a:t>Met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Households increasing income at 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7F4B"/>
                          </a:solidFill>
                        </a:rPr>
                        <a:t>Met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6-month follow-up completion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7F4B"/>
                          </a:solidFill>
                        </a:rPr>
                        <a:t>Met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Assessment completion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7F4B"/>
                          </a:solidFill>
                        </a:rPr>
                        <a:t>Met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Exit plan completion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7F4B"/>
                          </a:solidFill>
                        </a:rPr>
                        <a:t>Met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5CAB"/>
                </a:solidFill>
              </a:rP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C5CAB"/>
                </a:solidFill>
              </a:rPr>
              <a:t>85.1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2514E"/>
                </a:solidFill>
              </a:rPr>
              <a:t>Grade B · 263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</a:rPr>
              <a:t>Blocking issues to resolve before submission: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920240"/>
            <a:ext cx="7040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</a:rPr>
              <a:t>Missing required fields — 4 record(s)</a:t>
            </a:r>
          </a:p>
          <a:p>
            <a:r>
              <a:rPr sz="1400">
                <a:solidFill>
                  <a:srgbClr val="1A1A1A"/>
                </a:solidFill>
              </a:rPr>
              <a:t>Missing exit destination — 3 record(s)</a:t>
            </a:r>
          </a:p>
          <a:p>
            <a:r>
              <a:rPr sz="1400">
                <a:solidFill>
                  <a:srgbClr val="1A1A1A"/>
                </a:solidFill>
              </a:rPr>
              <a:t>Exit before enrollment — 3 record(s)</a:t>
            </a:r>
          </a:p>
          <a:p>
            <a:r>
              <a:rPr sz="1400">
                <a:solidFill>
                  <a:srgbClr val="1A1A1A"/>
                </a:solidFill>
              </a:rPr>
              <a:t>Duplicate client enrollment — 6 record(s)</a:t>
            </a:r>
          </a:p>
          <a:p>
            <a:r>
              <a:rPr sz="1400">
                <a:solidFill>
                  <a:srgbClr val="1A1A1A"/>
                </a:solidFill>
              </a:rPr>
              <a:t>Unknown program — 2 record(s)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5CAB"/>
                </a:solidFill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</a:rPr>
              <a:t>260 enrollments across 3 program(s) served 260 households (472 individuals: 327 adults, 164 children).</a:t>
            </a:r>
          </a:p>
          <a:p>
            <a:r>
              <a:rPr sz="1600">
                <a:solidFill>
                  <a:srgbClr val="1A1A1A"/>
                </a:solidFill>
              </a:rPr>
              <a:t>145 clients exited (55.8% of enrollments); 93 were successful exits (64.1%) and 93 went to permanent housing (64.1%).</a:t>
            </a:r>
          </a:p>
          <a:p>
            <a:r>
              <a:rPr sz="1600">
                <a:solidFill>
                  <a:srgbClr val="1A1A1A"/>
                </a:solidFill>
              </a:rPr>
              <a:t>Among 139 exits with complete income data, median income change was $0 and 46.8% of households increased income.</a:t>
            </a:r>
          </a:p>
          <a:p>
            <a:r>
              <a:rPr sz="1600">
                <a:solidFill>
                  <a:srgbClr val="1A1A1A"/>
                </a:solidFill>
              </a:rPr>
              <a:t>5 of 5 performance measures met their targets.</a:t>
            </a:r>
          </a:p>
          <a:p>
            <a:r>
              <a:rPr sz="1600">
                <a:solidFill>
                  <a:srgbClr val="1A1A1A"/>
                </a:solidFill>
              </a:rPr>
              <a:t>Enrollments are up 0.0% month-over-month in the most recent month.</a:t>
            </a:r>
          </a:p>
          <a:p>
            <a:r>
              <a:rPr sz="1600">
                <a:solidFill>
                  <a:srgbClr val="1A1A1A"/>
                </a:solidFill>
              </a:rPr>
              <a:t>Enrollment peaked in 2025-03 (34) and was lowest in 2024-10 (18).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5CAB"/>
                </a:solidFill>
              </a:rPr>
              <a:t>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</a:rPr>
              <a:t>Complete the 12 overdue follow-up(s); follow-up completion is a funder performance measure.</a:t>
            </a:r>
          </a:p>
          <a:p>
            <a:r>
              <a:rPr sz="1600">
                <a:solidFill>
                  <a:srgbClr val="1A1A1A"/>
                </a:solidFill>
              </a:rPr>
              <a:t>Fix duplicate client enrollment (6 record(s)): Keep one record per client per enrollment; merge or delete the duplicates.</a:t>
            </a:r>
          </a:p>
          <a:p>
            <a:r>
              <a:rPr sz="1600">
                <a:solidFill>
                  <a:srgbClr val="1A1A1A"/>
                </a:solidFill>
              </a:rPr>
              <a:t>Fix exit before enrollment (3 record(s)): Check both dates against case notes and correct whichever was mis-entered.</a:t>
            </a:r>
          </a:p>
          <a:p>
            <a:r>
              <a:rPr sz="1600">
                <a:solidFill>
                  <a:srgbClr val="1A1A1A"/>
                </a:solidFill>
              </a:rPr>
              <a:t>Fix missing required fields (4 record(s)): Fill in the missing values from case files or the source system, then re-upload.</a:t>
            </a:r>
          </a:p>
          <a:p>
            <a:r>
              <a:rPr sz="1600">
                <a:solidFill>
                  <a:srgbClr val="1A1A1A"/>
                </a:solidFill>
              </a:rPr>
              <a:t>Fix overdue 3-month follow-up (4 record(s)): Contact the flagged clients to complete the 3-month follow-up, and record the completion date.</a:t>
            </a:r>
          </a:p>
          <a:p>
            <a:r>
              <a:rPr sz="1600">
                <a:solidFill>
                  <a:srgbClr val="1A1A1A"/>
                </a:solidFill>
              </a:rPr>
              <a:t>Fix overdue 6-month follow-up (4 record(s)): Contact the flagged clients to complete the 6-month follow-up, and record the completion date.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5CAB"/>
                </a:solidFill>
              </a:rPr>
              <a:t>Methodology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</a:rPr>
              <a:t>Every figure in this deck is calculated by the application; the AI layer only narrates.</a:t>
            </a:r>
          </a:p>
          <a:p>
            <a:r>
              <a:rPr sz="1400">
                <a:solidFill>
                  <a:srgbClr val="1A1A1A"/>
                </a:solidFill>
              </a:rPr>
              <a:t>Deterministic narrative (non-AI mode).</a:t>
            </a:r>
          </a:p>
          <a:p>
            <a:r>
              <a:rPr sz="1400">
                <a:solidFill>
                  <a:srgbClr val="1A1A1A"/>
                </a:solidFill>
              </a:rPr>
              <a:t>3 duplicate enrollment record(s) were excluded from analytics.</a:t>
            </a:r>
          </a:p>
          <a:p>
            <a:r>
              <a:rPr sz="1400">
                <a:solidFill>
                  <a:srgbClr val="1A1A1A"/>
                </a:solidFill>
              </a:rPr>
              <a:t>3 household(s) had missing or implausible household size and were excluded from individual counts.</a:t>
            </a:r>
          </a:p>
          <a:p>
            <a:r>
              <a:rPr sz="1400">
                <a:solidFill>
                  <a:srgbClr val="1A1A1A"/>
                </a:solidFill>
              </a:rPr>
              <a:t>Income change is based on 139 of 145 exits; the rest were missing or had invalid entry/exit income.</a:t>
            </a:r>
          </a:p>
          <a:p>
            <a:r>
              <a:rPr sz="1400">
                <a:solidFill>
                  <a:srgbClr val="1A1A1A"/>
                </a:solidFill>
              </a:rPr>
              <a:t>Blocking data quality issues were present at generation time; affected metrics may be understated (see the Data Quality section).</a:t>
            </a:r>
          </a:p>
          <a:p>
            <a:r>
              <a:rPr sz="1400">
                <a:solidFill>
                  <a:srgbClr val="1A1A1A"/>
                </a:solidFill>
              </a:rPr>
              <a:t>3 exit(s) lack a destination and are counted as non-successful, which understates outcome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